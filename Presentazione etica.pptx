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Merriweather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DE48E2-E7C1-4EC8-8C8E-33DF1D7841D2}">
  <a:tblStyle styleId="{26DE48E2-E7C1-4EC8-8C8E-33DF1D7841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5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66f137320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66f137320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66f137320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66f137320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66f137320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66f137320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edaed218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edaed218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edaed218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edaed218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edaed218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edaed21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66f137320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66f137320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66f137320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66f137320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66f137320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66f137320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edaed218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edaed218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66f137320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66f137320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66f137320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66f137320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66f137320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66f137320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66f137320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66f137320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edaed218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edaed218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edaed218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edaed218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edaed218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edaed218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ee5d741dc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ee5d741d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.jpg"/><Relationship Id="rId6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29400" y="412125"/>
            <a:ext cx="5447100" cy="18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Fairness Consideration in Digital Twin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29400" y="18334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Digital twin of Bologna Socio-Economic Landscape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3535950" y="4381900"/>
            <a:ext cx="547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Francesco Cavaleri, francesco.cavaleri2@studio.unibo.it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Giacomo Piergentili, giacomo.piergentili2@studio.unibo.it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Goal of the project</a:t>
            </a:r>
            <a:endParaRPr sz="2400"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450">
                <a:solidFill>
                  <a:srgbClr val="2C3E50"/>
                </a:solidFill>
                <a:latin typeface="Verdana"/>
                <a:ea typeface="Verdana"/>
                <a:cs typeface="Verdana"/>
                <a:sym typeface="Verdana"/>
              </a:rPr>
              <a:t>Develop a digital twin to understand how different socio-economic groups interact with Bologna's urban infrastructure and evaluate the fairness of mobility policies.</a:t>
            </a:r>
            <a:endParaRPr/>
          </a:p>
        </p:txBody>
      </p:sp>
      <p:pic>
        <p:nvPicPr>
          <p:cNvPr id="73" name="Google Shape;73;p14" title="depositphotos_325631750-stock-illustration-satellite-map-province-bologna-town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4100" y="1905975"/>
            <a:ext cx="2747549" cy="277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5705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400"/>
              <a:t>Part of "Digital Twin for Fairness in Bologna" Initiative</a:t>
            </a:r>
            <a:endParaRPr sz="24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</p:txBody>
      </p:sp>
      <p:sp>
        <p:nvSpPr>
          <p:cNvPr id="79" name="Google Shape;79;p15"/>
          <p:cNvSpPr txBox="1"/>
          <p:nvPr/>
        </p:nvSpPr>
        <p:spPr>
          <a:xfrm>
            <a:off x="409300" y="1611075"/>
            <a:ext cx="7768200" cy="15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Focus:</a:t>
            </a: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Simulate and analyze socio-economic groups' interaction with city infrastructure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Purpose:</a:t>
            </a: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Help policymakers evaluate social and economic impact of urban planning decisions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Fairness:</a:t>
            </a: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Explicit focus on fairness evaluation, not just efficiency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5" title="flow_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8675" y="2643775"/>
            <a:ext cx="3846651" cy="223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5628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Data Integration</a:t>
            </a:r>
            <a:endParaRPr sz="2400"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Key Data Sources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City gates (Porte) locations and traffic flow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58 educational institutions (public/private)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Green areas and public spaces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Traffic flow rates at city gates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2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System capabilities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Identify mobility patterns at key city gates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Simulate policy impacts on different groups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5715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Support evidence-based decision making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3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5705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400"/>
              <a:t>Bologna’s Urban Challenge</a:t>
            </a:r>
            <a:endParaRPr sz="24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</p:txBody>
      </p:sp>
      <p:sp>
        <p:nvSpPr>
          <p:cNvPr id="93" name="Google Shape;93;p17"/>
          <p:cNvSpPr txBox="1"/>
          <p:nvPr/>
        </p:nvSpPr>
        <p:spPr>
          <a:xfrm>
            <a:off x="409300" y="1611075"/>
            <a:ext cx="7768200" cy="27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Mobility policies impact:</a:t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23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Families with children</a:t>
            </a: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Need flexible transportation for school commutes and activities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latin typeface="Verdana"/>
                <a:ea typeface="Verdana"/>
                <a:cs typeface="Verdana"/>
                <a:sym typeface="Verdana"/>
              </a:rPr>
              <a:t>Lower-income residents</a:t>
            </a: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: Face barriers accessing central city services from peripheral areas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latin typeface="Verdana"/>
                <a:ea typeface="Verdana"/>
                <a:cs typeface="Verdana"/>
                <a:sym typeface="Verdana"/>
              </a:rPr>
              <a:t>Key Challenge</a:t>
            </a: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: City gates serve as critical control points for traffic management and potential points of inequity if not managed with fairness considerations</a:t>
            </a:r>
            <a:b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5628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400"/>
              <a:t>Demographic Categories &amp; Mobility Patterns</a:t>
            </a:r>
            <a:endParaRPr sz="24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505700"/>
            <a:ext cx="3999900" cy="3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Target groups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Verdana"/>
              <a:buChar char="●"/>
            </a:pPr>
            <a:r>
              <a:rPr b="1"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Families with children</a:t>
            </a:r>
            <a:r>
              <a:rPr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Complex mobility patterns, multiple stops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Children</a:t>
            </a:r>
            <a:r>
              <a:rPr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Depend on safe pedestrian access to schools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Teenagers</a:t>
            </a:r>
            <a:r>
              <a:rPr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Price-sensitive, rely on public transportation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Adult men/women</a:t>
            </a:r>
            <a:r>
              <a:rPr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Different mobility patterns, both having children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Others</a:t>
            </a:r>
            <a:r>
              <a:rPr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category for all missed people, enabling comprehensive coverage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" name="Google Shape;100;p18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Multi-modal Weighting System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Captures how urban attributes affect each demographic group differently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Example: Proximity to public schools has high weight for children and families, minimal importance for young adults without children</a:t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8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2817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Verdana"/>
                <a:ea typeface="Verdana"/>
                <a:cs typeface="Verdana"/>
                <a:sym typeface="Verdana"/>
              </a:rPr>
              <a:t>Urban mobility is inherently tied to fairness and equity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</p:txBody>
      </p:sp>
      <p:sp>
        <p:nvSpPr>
          <p:cNvPr id="106" name="Google Shape;106;p19"/>
          <p:cNvSpPr txBox="1"/>
          <p:nvPr/>
        </p:nvSpPr>
        <p:spPr>
          <a:xfrm>
            <a:off x="357050" y="1611075"/>
            <a:ext cx="5805900" cy="3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Some features of our simulator: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Accessibility Analysis:</a:t>
            </a: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Range-based framework (650-750m radius ≈ 10-minute walk)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Spatial Representation:</a:t>
            </a: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Integration of gates, schools, and green spaces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Temporal Dimension:</a:t>
            </a: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Probabilistic models for different time periods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Fairness Evaluation:</a:t>
            </a: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Effort-based cost function for each demographic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7" name="Google Shape;107;p19" title="Schermata_20250529_112154.png"/>
          <p:cNvPicPr preferRelativeResize="0"/>
          <p:nvPr/>
        </p:nvPicPr>
        <p:blipFill rotWithShape="1">
          <a:blip r:embed="rId3">
            <a:alphaModFix/>
          </a:blip>
          <a:srcRect b="0" l="-3475" r="-3464" t="0"/>
          <a:stretch/>
        </p:blipFill>
        <p:spPr>
          <a:xfrm>
            <a:off x="6218250" y="1611075"/>
            <a:ext cx="2614049" cy="155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Fairness Evaluation Framework</a:t>
            </a:r>
            <a:endParaRPr sz="2400"/>
          </a:p>
        </p:txBody>
      </p:sp>
      <p:sp>
        <p:nvSpPr>
          <p:cNvPr id="113" name="Google Shape;113;p20"/>
          <p:cNvSpPr txBox="1"/>
          <p:nvPr/>
        </p:nvSpPr>
        <p:spPr>
          <a:xfrm>
            <a:off x="311675" y="1632750"/>
            <a:ext cx="85206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Central Concept: "Effort" as Cost Function</a:t>
            </a:r>
            <a:endParaRPr b="1"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Quantifies accessibility burden experienced by each demographic category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311675" y="2571750"/>
            <a:ext cx="8520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Evaluation Process</a:t>
            </a: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Baseline Effort Scores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Establish reference points for current accessibility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Policy Impact Simulation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Recalculate scores based on</a:t>
            </a:r>
            <a:r>
              <a:rPr lang="it" sz="1200">
                <a:solidFill>
                  <a:schemeClr val="dk2"/>
                </a:solidFill>
                <a:highlight>
                  <a:srgbClr val="EFEFEF"/>
                </a:highlight>
                <a:latin typeface="Verdana"/>
                <a:ea typeface="Verdana"/>
                <a:cs typeface="Verdana"/>
                <a:sym typeface="Verdana"/>
              </a:rPr>
              <a:t> modified attributes</a:t>
            </a:r>
            <a:endParaRPr sz="1200">
              <a:solidFill>
                <a:schemeClr val="dk2"/>
              </a:solidFill>
              <a:highlight>
                <a:srgbClr val="EFEFE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Fairness Assessment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Compare relative burden changes across groups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Evidence-based Decisions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Identify and mitigate unfair burdens on specific segments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11663" y="4088575"/>
            <a:ext cx="852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Innovation</a:t>
            </a: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Optimize for equity alongside traditional efficiency metrics (traffic flow, revenue)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Effort cost function</a:t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311725" y="1610425"/>
            <a:ext cx="8520600" cy="2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evaluation begin with evaluation of the Effort score by each demographic category. </a:t>
            </a:r>
            <a:b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6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60000"/>
              </a:lnSpc>
              <a:spcBef>
                <a:spcPts val="2300"/>
              </a:spcBef>
              <a:spcAft>
                <a:spcPts val="2300"/>
              </a:spcAft>
              <a:buNone/>
            </a:pP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When the program starts effort scores integrates spatial attributes of the city gate.</a:t>
            </a:r>
            <a:b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it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In that way the initialization takes into account the exact features of that location, creating a more reliable simulation.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475" y="2330288"/>
            <a:ext cx="6239099" cy="482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" name="Google Shape;123;p21"/>
          <p:cNvGraphicFramePr/>
          <p:nvPr/>
        </p:nvGraphicFramePr>
        <p:xfrm>
          <a:off x="2626125" y="423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{26DE48E2-E7C1-4EC8-8C8E-33DF1D7841D2}</a:tableStyleId>
              </a:tblPr>
              <a:tblGrid>
                <a:gridCol w="648625"/>
                <a:gridCol w="648625"/>
                <a:gridCol w="648625"/>
                <a:gridCol w="648625"/>
                <a:gridCol w="648625"/>
                <a:gridCol w="648625"/>
              </a:tblGrid>
              <a:tr h="20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>
                          <a:highlight>
                            <a:srgbClr val="D9D9D9"/>
                          </a:highlight>
                        </a:rPr>
                        <a:t>CATEGORY</a:t>
                      </a:r>
                      <a:endParaRPr>
                        <a:highlight>
                          <a:srgbClr val="D9D9D9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KIDS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TEENS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WOMEN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MEN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FAMILY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>
                          <a:highlight>
                            <a:srgbClr val="CCCCCC"/>
                          </a:highlight>
                        </a:rPr>
                        <a:t>EFFORT</a:t>
                      </a:r>
                      <a:endParaRPr>
                        <a:highlight>
                          <a:srgbClr val="CCCCCC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3,98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2,87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3,46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2,09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/>
                        <a:t>4,78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Temporal Dimension - </a:t>
            </a:r>
            <a:r>
              <a:rPr lang="it"/>
              <a:t>Mathematics under it</a:t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311725" y="1589500"/>
            <a:ext cx="407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531200" y="1589500"/>
            <a:ext cx="50160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Equation Building Blocks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2266950"/>
            <a:ext cx="3429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988" y="3723975"/>
            <a:ext cx="402907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 title="images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5100" y="1812824"/>
            <a:ext cx="2561975" cy="15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 title="main-qimg-5c2dbef79ebe4d8438be14cb35c8913d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9675" y="3162748"/>
            <a:ext cx="2333750" cy="17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5628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Temporal Dimension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505700"/>
            <a:ext cx="3999900" cy="3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Time-based Probability Functions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Different demographic groups show distinct temporal patterns throughout the day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Verdana"/>
              <a:buChar char="●"/>
            </a:pPr>
            <a:r>
              <a:rPr b="1" lang="it" sz="1200">
                <a:latin typeface="Verdana"/>
                <a:ea typeface="Verdana"/>
                <a:cs typeface="Verdana"/>
                <a:sym typeface="Verdana"/>
              </a:rPr>
              <a:t>Families</a:t>
            </a: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: "Double peak" pattern tied to school schedules (morning drop-off, evening pickup)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</a:pPr>
            <a:r>
              <a:rPr b="1" lang="it" sz="1200">
                <a:latin typeface="Verdana"/>
                <a:ea typeface="Verdana"/>
                <a:cs typeface="Verdana"/>
                <a:sym typeface="Verdana"/>
              </a:rPr>
              <a:t>Children</a:t>
            </a: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: Mobility concentrated during school transport hours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</a:pPr>
            <a:r>
              <a:rPr b="1" lang="it" sz="1200">
                <a:latin typeface="Verdana"/>
                <a:ea typeface="Verdana"/>
                <a:cs typeface="Verdana"/>
                <a:sym typeface="Verdana"/>
              </a:rPr>
              <a:t>Adults</a:t>
            </a: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: More distributed patterns across workday hours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2" name="Google Shape;142;p23" title="prob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0" y="1996823"/>
            <a:ext cx="4520700" cy="241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Evaluate Demographic Distributions</a:t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311725" y="1584925"/>
            <a:ext cx="50160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Steps: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Effort-to-probability conversion</a:t>
            </a:r>
            <a:b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Time-dependent scaling</a:t>
            </a:r>
            <a:b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b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it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Demographic count estimation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925" y="1895750"/>
            <a:ext cx="27051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5925" y="2809725"/>
            <a:ext cx="29908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925" y="3466525"/>
            <a:ext cx="322897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5925" y="4446950"/>
            <a:ext cx="240982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Preliminary Results</a:t>
            </a:r>
            <a:endParaRPr/>
          </a:p>
        </p:txBody>
      </p:sp>
      <p:pic>
        <p:nvPicPr>
          <p:cNvPr id="158" name="Google Shape;158;p25" title="Schermata_20250529_1223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494450"/>
            <a:ext cx="4214475" cy="302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5" title="Schermata_20250529_1224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7380" y="1494450"/>
            <a:ext cx="4234945" cy="302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Multi-model and </a:t>
            </a:r>
            <a:r>
              <a:rPr lang="it" sz="2400"/>
              <a:t>Key findings</a:t>
            </a:r>
            <a:endParaRPr sz="2400"/>
          </a:p>
        </p:txBody>
      </p:sp>
      <p:sp>
        <p:nvSpPr>
          <p:cNvPr id="165" name="Google Shape;165;p26"/>
          <p:cNvSpPr txBox="1"/>
          <p:nvPr/>
        </p:nvSpPr>
        <p:spPr>
          <a:xfrm>
            <a:off x="311700" y="1395675"/>
            <a:ext cx="8520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Learning from Real Datasets</a:t>
            </a:r>
            <a:endParaRPr b="1"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Exploiting real dataset allows us to learn, starting from actual urban data, 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demographic weights and temporal patterns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311700" y="2448000"/>
            <a:ext cx="4122900" cy="22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Key Results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Green Spaces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Analysis of park visitation data can reveal actual preferences across age groups and family types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School Proximity Patterns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simulation can quantify how proximity to schools affects different demographics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Economic Sensitivity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Transportation card usage and parking data can show price responsiveness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4709400" y="2448000"/>
            <a:ext cx="4122900" cy="22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Multi-model Applications: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Gaussian Mixture Models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Can learn temporal patterns from traffic sensor data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Neural Networks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Can predict demographic features based on the time of the year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Clustering Analysis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Can identify natural demographic groupings from mobility data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Visualization &amp; Analytical Approach</a:t>
            </a:r>
            <a:endParaRPr sz="2400"/>
          </a:p>
        </p:txBody>
      </p:sp>
      <p:sp>
        <p:nvSpPr>
          <p:cNvPr id="173" name="Google Shape;173;p27"/>
          <p:cNvSpPr txBox="1"/>
          <p:nvPr/>
        </p:nvSpPr>
        <p:spPr>
          <a:xfrm>
            <a:off x="293425" y="1620925"/>
            <a:ext cx="85206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Interactive Visualization System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293425" y="2091325"/>
            <a:ext cx="4296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Technical Features</a:t>
            </a: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Multi-layered map visualization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Dynamic demographic impact charts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Real-time parameter adjustment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Spatial relationship exploration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4590200" y="2091325"/>
            <a:ext cx="42603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Stakeholder Benefits</a:t>
            </a: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Makes complex spatial relationships accessible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Supports non-technical stakeholder communication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Makes fairness considerations visually apparent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293425" y="3768925"/>
            <a:ext cx="855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Dual Purpose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Serves both analytical exploration and stakeholder communication for inclusive urban planning discussions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Implications for Urban Policy</a:t>
            </a:r>
            <a:endParaRPr sz="2400"/>
          </a:p>
        </p:txBody>
      </p:sp>
      <p:sp>
        <p:nvSpPr>
          <p:cNvPr id="182" name="Google Shape;182;p28"/>
          <p:cNvSpPr txBox="1"/>
          <p:nvPr/>
        </p:nvSpPr>
        <p:spPr>
          <a:xfrm>
            <a:off x="293450" y="1637575"/>
            <a:ext cx="4296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Key Policy Considerations</a:t>
            </a: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Equity in Access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Spatial distribution reveals potential disparities in educational facility access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Traffic Management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Flow rate of people indicate opportunities for targeted peak hour management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Green Space Accessibility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Identifies areas for improvement, especially near schools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4590225" y="1637575"/>
            <a:ext cx="42603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Fairness-Centered Planning</a:t>
            </a: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Enable rejection of policies that create unfair burdens on specific population segments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Simulate before implementation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Consider demographic impacts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Balance efficiency with equity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Limitations &amp; Future Work</a:t>
            </a:r>
            <a:endParaRPr sz="2400"/>
          </a:p>
        </p:txBody>
      </p:sp>
      <p:sp>
        <p:nvSpPr>
          <p:cNvPr id="189" name="Google Shape;189;p29"/>
          <p:cNvSpPr txBox="1"/>
          <p:nvPr/>
        </p:nvSpPr>
        <p:spPr>
          <a:xfrm>
            <a:off x="293450" y="1637575"/>
            <a:ext cx="4296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Current Limitations</a:t>
            </a: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Demographic weights based on assumptions, not Bologna-specific research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Straight-line distance calculations vs. actual street routes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Simplified demographic categories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Mathematical probability functions vs. real traffic data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4590225" y="1637575"/>
            <a:ext cx="42603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Future Enhancements: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Machine learning for parameter estimation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Gaussian Mixture Models for temporal patterns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Statistical areas instead of gates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Transportation network integration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Sociological validation through surveys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●"/>
            </a:pP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Complex multi-model simulation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Conclusion</a:t>
            </a:r>
            <a:endParaRPr sz="2400"/>
          </a:p>
        </p:txBody>
      </p:sp>
      <p:sp>
        <p:nvSpPr>
          <p:cNvPr id="196" name="Google Shape;196;p30"/>
          <p:cNvSpPr txBox="1"/>
          <p:nvPr/>
        </p:nvSpPr>
        <p:spPr>
          <a:xfrm>
            <a:off x="293425" y="1386450"/>
            <a:ext cx="8520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First Digital Twin Framework for Bologna</a:t>
            </a:r>
            <a:endParaRPr b="1"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This represents the first iteration of a digital twin system specifically designed for the city of Bologna, focusing on fairness in urban planning</a:t>
            </a:r>
            <a:endParaRPr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263600" y="2366350"/>
            <a:ext cx="85023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Key Achievements:</a:t>
            </a:r>
            <a:endParaRPr b="1"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Pioneer Implementation: 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No comprehensive digital twin existed for Bologna before this project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Fairness Focus: 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First framework explicitly designed to evaluate equitable impact of urban planning decisions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Methodological Foundation: 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Establishes baseline methodology for fairness-aware urban simulation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Verdana"/>
              <a:buChar char="●"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Extensible Framework: 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Modular design allows for future enhancements and integration with additional data sources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311725" y="4085175"/>
            <a:ext cx="84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Future Impact: </a:t>
            </a:r>
            <a:r>
              <a:rPr lang="it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This first iteration establishes the groundwork for more sophisticated fairness-aware digital twins, enabling policymakers to create more equitable and data-informed approaches to mobility management and social policies implementation in Bologna and potentially other cities.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 you have any question?</a:t>
            </a:r>
            <a:endParaRPr/>
          </a:p>
        </p:txBody>
      </p:sp>
      <p:sp>
        <p:nvSpPr>
          <p:cNvPr id="204" name="Google Shape;204;p31"/>
          <p:cNvSpPr txBox="1"/>
          <p:nvPr/>
        </p:nvSpPr>
        <p:spPr>
          <a:xfrm>
            <a:off x="311700" y="1278775"/>
            <a:ext cx="44373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4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THANK YOU FOR YOUR ATTENTION</a:t>
            </a:r>
            <a:endParaRPr b="1" i="1" sz="4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